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9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830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0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2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9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6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04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14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0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4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06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72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4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09D35-F606-8298-C3EE-991859252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CB7A79-5A0E-8763-5F2D-85F5608438EE}"/>
              </a:ext>
            </a:extLst>
          </p:cNvPr>
          <p:cNvSpPr txBox="1"/>
          <p:nvPr/>
        </p:nvSpPr>
        <p:spPr>
          <a:xfrm>
            <a:off x="411480" y="201168"/>
            <a:ext cx="8046720" cy="43891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Tender Bid Evaluation Platform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D14CB6-B41D-2F50-F328-5BA952609CAC}"/>
              </a:ext>
            </a:extLst>
          </p:cNvPr>
          <p:cNvSpPr/>
          <p:nvPr/>
        </p:nvSpPr>
        <p:spPr>
          <a:xfrm>
            <a:off x="10716768" y="182880"/>
            <a:ext cx="1060704" cy="438912"/>
          </a:xfrm>
          <a:prstGeom prst="roundRect">
            <a:avLst>
              <a:gd name="adj" fmla="val 5199"/>
            </a:avLst>
          </a:prstGeom>
          <a:solidFill>
            <a:schemeClr val="bg1">
              <a:lumMod val="95000"/>
            </a:schemeClr>
          </a:solidFill>
          <a:ln>
            <a:solidFill>
              <a:srgbClr val="0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4AAC25C-9F7C-A73B-F57F-C29A38BDE697}"/>
              </a:ext>
            </a:extLst>
          </p:cNvPr>
          <p:cNvSpPr/>
          <p:nvPr/>
        </p:nvSpPr>
        <p:spPr>
          <a:xfrm>
            <a:off x="502920" y="856311"/>
            <a:ext cx="1426464" cy="1874519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5B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98084-1D90-AA83-1EF9-6AE9810BC9DE}"/>
              </a:ext>
            </a:extLst>
          </p:cNvPr>
          <p:cNvSpPr txBox="1"/>
          <p:nvPr/>
        </p:nvSpPr>
        <p:spPr>
          <a:xfrm>
            <a:off x="594360" y="966039"/>
            <a:ext cx="1243584" cy="23774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  SOURCES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ED4F24A-DD42-10CF-427B-A004AE6CE482}"/>
              </a:ext>
            </a:extLst>
          </p:cNvPr>
          <p:cNvSpPr/>
          <p:nvPr/>
        </p:nvSpPr>
        <p:spPr>
          <a:xfrm>
            <a:off x="594360" y="1331799"/>
            <a:ext cx="1243584" cy="338328"/>
          </a:xfrm>
          <a:prstGeom prst="roundRect">
            <a:avLst/>
          </a:prstGeom>
          <a:solidFill>
            <a:srgbClr val="0970B4"/>
          </a:solidFill>
          <a:ln>
            <a:solidFill>
              <a:srgbClr val="0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7B6BB9-AE02-45C6-3B9D-34D46EFC00C1}"/>
              </a:ext>
            </a:extLst>
          </p:cNvPr>
          <p:cNvSpPr txBox="1"/>
          <p:nvPr/>
        </p:nvSpPr>
        <p:spPr>
          <a:xfrm>
            <a:off x="612648" y="1331799"/>
            <a:ext cx="1207008" cy="3383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Gmail Inbox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C0EB657-5200-DDF1-84D3-75D6E5D1F092}"/>
              </a:ext>
            </a:extLst>
          </p:cNvPr>
          <p:cNvSpPr/>
          <p:nvPr/>
        </p:nvSpPr>
        <p:spPr>
          <a:xfrm>
            <a:off x="594360" y="1734135"/>
            <a:ext cx="1243584" cy="338328"/>
          </a:xfrm>
          <a:prstGeom prst="roundRect">
            <a:avLst/>
          </a:prstGeom>
          <a:solidFill>
            <a:srgbClr val="2E4158"/>
          </a:solidFill>
          <a:ln>
            <a:solidFill>
              <a:srgbClr val="2E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AA765D-F8BB-63BD-CF4D-DC0898AC3C4F}"/>
              </a:ext>
            </a:extLst>
          </p:cNvPr>
          <p:cNvSpPr txBox="1"/>
          <p:nvPr/>
        </p:nvSpPr>
        <p:spPr>
          <a:xfrm>
            <a:off x="612648" y="1734135"/>
            <a:ext cx="1207008" cy="3383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Manual PDF upload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B6AAF3-9812-D66D-60F5-F1679EAF372A}"/>
              </a:ext>
            </a:extLst>
          </p:cNvPr>
          <p:cNvSpPr txBox="1"/>
          <p:nvPr/>
        </p:nvSpPr>
        <p:spPr>
          <a:xfrm>
            <a:off x="594360" y="2209623"/>
            <a:ext cx="1243584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Gmail API · OAuth 2.0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A186607-0459-6E7E-2390-0E138CA1813F}"/>
              </a:ext>
            </a:extLst>
          </p:cNvPr>
          <p:cNvSpPr/>
          <p:nvPr/>
        </p:nvSpPr>
        <p:spPr>
          <a:xfrm>
            <a:off x="2139696" y="856311"/>
            <a:ext cx="1426464" cy="1874519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5B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AB5EEA-D5A1-83CF-FE8F-AA58E3EFDEA7}"/>
              </a:ext>
            </a:extLst>
          </p:cNvPr>
          <p:cNvSpPr txBox="1"/>
          <p:nvPr/>
        </p:nvSpPr>
        <p:spPr>
          <a:xfrm>
            <a:off x="2231136" y="966039"/>
            <a:ext cx="1243584" cy="23774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  INGEST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E66A2B0-D9E6-A1B8-11CD-5877D69D2FE5}"/>
              </a:ext>
            </a:extLst>
          </p:cNvPr>
          <p:cNvSpPr/>
          <p:nvPr/>
        </p:nvSpPr>
        <p:spPr>
          <a:xfrm>
            <a:off x="2231136" y="1331799"/>
            <a:ext cx="1243584" cy="338328"/>
          </a:xfrm>
          <a:prstGeom prst="roundRect">
            <a:avLst/>
          </a:prstGeom>
          <a:solidFill>
            <a:srgbClr val="007E5B"/>
          </a:solidFill>
          <a:ln>
            <a:solidFill>
              <a:srgbClr val="0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55CB68-6B03-6938-D181-BA1043F1D792}"/>
              </a:ext>
            </a:extLst>
          </p:cNvPr>
          <p:cNvSpPr txBox="1"/>
          <p:nvPr/>
        </p:nvSpPr>
        <p:spPr>
          <a:xfrm>
            <a:off x="2249424" y="1331799"/>
            <a:ext cx="1207008" cy="3383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FastAPI / ingestion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EF83CC0-C3A2-62FA-2059-18C1458F8916}"/>
              </a:ext>
            </a:extLst>
          </p:cNvPr>
          <p:cNvSpPr/>
          <p:nvPr/>
        </p:nvSpPr>
        <p:spPr>
          <a:xfrm>
            <a:off x="2231136" y="1734135"/>
            <a:ext cx="1243584" cy="338328"/>
          </a:xfrm>
          <a:prstGeom prst="roundRect">
            <a:avLst/>
          </a:prstGeom>
          <a:solidFill>
            <a:srgbClr val="007E5B"/>
          </a:solidFill>
          <a:ln>
            <a:solidFill>
              <a:srgbClr val="0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697F5B-79AC-7464-8E39-5D2C52523D86}"/>
              </a:ext>
            </a:extLst>
          </p:cNvPr>
          <p:cNvSpPr txBox="1"/>
          <p:nvPr/>
        </p:nvSpPr>
        <p:spPr>
          <a:xfrm>
            <a:off x="2249424" y="1734135"/>
            <a:ext cx="1207008" cy="3383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Drive + Postgres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8BDD1B-6F49-542D-19B0-28A53C7DD1A5}"/>
              </a:ext>
            </a:extLst>
          </p:cNvPr>
          <p:cNvSpPr txBox="1"/>
          <p:nvPr/>
        </p:nvSpPr>
        <p:spPr>
          <a:xfrm>
            <a:off x="2231136" y="2209623"/>
            <a:ext cx="1243584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store + version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A448927-EDF1-469E-C3F6-ADD19BA47976}"/>
              </a:ext>
            </a:extLst>
          </p:cNvPr>
          <p:cNvSpPr/>
          <p:nvPr/>
        </p:nvSpPr>
        <p:spPr>
          <a:xfrm>
            <a:off x="3776472" y="856311"/>
            <a:ext cx="1426464" cy="1874519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5B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87794A-8E6D-5244-8602-46E07AC504D3}"/>
              </a:ext>
            </a:extLst>
          </p:cNvPr>
          <p:cNvSpPr txBox="1"/>
          <p:nvPr/>
        </p:nvSpPr>
        <p:spPr>
          <a:xfrm>
            <a:off x="3867912" y="966039"/>
            <a:ext cx="1243584" cy="23774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  PARSE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4AD66F9-B73B-89E3-01C6-2D1C9B67A6CB}"/>
              </a:ext>
            </a:extLst>
          </p:cNvPr>
          <p:cNvSpPr/>
          <p:nvPr/>
        </p:nvSpPr>
        <p:spPr>
          <a:xfrm>
            <a:off x="3867912" y="1331799"/>
            <a:ext cx="1243584" cy="338328"/>
          </a:xfrm>
          <a:prstGeom prst="roundRect">
            <a:avLst/>
          </a:prstGeom>
          <a:solidFill>
            <a:srgbClr val="0970B4"/>
          </a:solidFill>
          <a:ln>
            <a:solidFill>
              <a:srgbClr val="0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F380DC-F38E-9D1C-2B45-A44CA46D4E71}"/>
              </a:ext>
            </a:extLst>
          </p:cNvPr>
          <p:cNvSpPr txBox="1"/>
          <p:nvPr/>
        </p:nvSpPr>
        <p:spPr>
          <a:xfrm>
            <a:off x="3886200" y="1331799"/>
            <a:ext cx="1207008" cy="3383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OCR submit / poll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0E9C133-D92C-24AB-A4EC-47B505C486BE}"/>
              </a:ext>
            </a:extLst>
          </p:cNvPr>
          <p:cNvSpPr/>
          <p:nvPr/>
        </p:nvSpPr>
        <p:spPr>
          <a:xfrm>
            <a:off x="3867912" y="1734135"/>
            <a:ext cx="1243584" cy="338328"/>
          </a:xfrm>
          <a:prstGeom prst="roundRect">
            <a:avLst/>
          </a:prstGeom>
          <a:solidFill>
            <a:srgbClr val="2E4158"/>
          </a:solidFill>
          <a:ln>
            <a:solidFill>
              <a:srgbClr val="2E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180E3E-CAF4-847D-C588-C27A6B38F80F}"/>
              </a:ext>
            </a:extLst>
          </p:cNvPr>
          <p:cNvSpPr txBox="1"/>
          <p:nvPr/>
        </p:nvSpPr>
        <p:spPr>
          <a:xfrm>
            <a:off x="3886200" y="1734135"/>
            <a:ext cx="1207008" cy="3383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artifact store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6BE1DF-CDF0-172B-C4B2-3263CFE38E1F}"/>
              </a:ext>
            </a:extLst>
          </p:cNvPr>
          <p:cNvSpPr txBox="1"/>
          <p:nvPr/>
        </p:nvSpPr>
        <p:spPr>
          <a:xfrm>
            <a:off x="3867912" y="2209623"/>
            <a:ext cx="1243584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page images · .md · TOC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F86D4F6-E3CA-E170-5B94-210442E2B421}"/>
              </a:ext>
            </a:extLst>
          </p:cNvPr>
          <p:cNvSpPr/>
          <p:nvPr/>
        </p:nvSpPr>
        <p:spPr>
          <a:xfrm>
            <a:off x="5413248" y="856311"/>
            <a:ext cx="1426464" cy="1874519"/>
          </a:xfrm>
          <a:prstGeom prst="roundRect">
            <a:avLst/>
          </a:prstGeom>
          <a:solidFill>
            <a:srgbClr val="101E33"/>
          </a:solidFill>
          <a:ln w="20320">
            <a:solidFill>
              <a:srgbClr val="24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D5671A-96D1-5FA8-939E-3F28CFC64650}"/>
              </a:ext>
            </a:extLst>
          </p:cNvPr>
          <p:cNvSpPr txBox="1"/>
          <p:nvPr/>
        </p:nvSpPr>
        <p:spPr>
          <a:xfrm>
            <a:off x="5504688" y="966039"/>
            <a:ext cx="1243584" cy="23774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  AI TASKS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98D1827-3B43-3710-5F0C-FAC4FDC4C8EB}"/>
              </a:ext>
            </a:extLst>
          </p:cNvPr>
          <p:cNvSpPr/>
          <p:nvPr/>
        </p:nvSpPr>
        <p:spPr>
          <a:xfrm>
            <a:off x="5504688" y="1331799"/>
            <a:ext cx="1243584" cy="338328"/>
          </a:xfrm>
          <a:prstGeom prst="roundRect">
            <a:avLst/>
          </a:prstGeom>
          <a:solidFill>
            <a:srgbClr val="6931C2"/>
          </a:solidFill>
          <a:ln>
            <a:solidFill>
              <a:srgbClr val="693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319F79-2D07-13A3-64F0-6B18DA838F4E}"/>
              </a:ext>
            </a:extLst>
          </p:cNvPr>
          <p:cNvSpPr txBox="1"/>
          <p:nvPr/>
        </p:nvSpPr>
        <p:spPr>
          <a:xfrm>
            <a:off x="5522976" y="1331799"/>
            <a:ext cx="1207008" cy="3383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Pydantic AI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2F9CAF-F5BA-F916-CA9B-3EC7EB8CFFAE}"/>
              </a:ext>
            </a:extLst>
          </p:cNvPr>
          <p:cNvSpPr/>
          <p:nvPr/>
        </p:nvSpPr>
        <p:spPr>
          <a:xfrm>
            <a:off x="5504688" y="1734135"/>
            <a:ext cx="1243584" cy="338328"/>
          </a:xfrm>
          <a:prstGeom prst="roundRect">
            <a:avLst/>
          </a:prstGeom>
          <a:solidFill>
            <a:srgbClr val="2E4158"/>
          </a:solidFill>
          <a:ln>
            <a:solidFill>
              <a:srgbClr val="2E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3F1185-EDAC-D453-CF7E-D3196F00B16E}"/>
              </a:ext>
            </a:extLst>
          </p:cNvPr>
          <p:cNvSpPr txBox="1"/>
          <p:nvPr/>
        </p:nvSpPr>
        <p:spPr>
          <a:xfrm>
            <a:off x="5522976" y="1734135"/>
            <a:ext cx="1207008" cy="3383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typed JSON contracts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274039-8AE3-519B-CC8B-561BCCAB1754}"/>
              </a:ext>
            </a:extLst>
          </p:cNvPr>
          <p:cNvSpPr txBox="1"/>
          <p:nvPr/>
        </p:nvSpPr>
        <p:spPr>
          <a:xfrm>
            <a:off x="5504688" y="2209623"/>
            <a:ext cx="1243584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24CD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task orchestration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295DB99-BEA0-E9A6-646E-485B1AB62370}"/>
              </a:ext>
            </a:extLst>
          </p:cNvPr>
          <p:cNvSpPr/>
          <p:nvPr/>
        </p:nvSpPr>
        <p:spPr>
          <a:xfrm>
            <a:off x="7050024" y="856311"/>
            <a:ext cx="1426464" cy="1874519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5B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D42333-F52B-5521-2508-8FBCD1CD7B26}"/>
              </a:ext>
            </a:extLst>
          </p:cNvPr>
          <p:cNvSpPr txBox="1"/>
          <p:nvPr/>
        </p:nvSpPr>
        <p:spPr>
          <a:xfrm>
            <a:off x="7141464" y="966039"/>
            <a:ext cx="1243584" cy="23774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  EVALUATE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9D0C99A-7238-9A80-8903-BF7F729B9D43}"/>
              </a:ext>
            </a:extLst>
          </p:cNvPr>
          <p:cNvSpPr/>
          <p:nvPr/>
        </p:nvSpPr>
        <p:spPr>
          <a:xfrm>
            <a:off x="7141464" y="1331799"/>
            <a:ext cx="1243584" cy="338328"/>
          </a:xfrm>
          <a:prstGeom prst="roundRect">
            <a:avLst/>
          </a:prstGeom>
          <a:solidFill>
            <a:srgbClr val="007E5B"/>
          </a:solidFill>
          <a:ln>
            <a:solidFill>
              <a:srgbClr val="0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55B48E-DEC0-B226-82C3-8F8846980B79}"/>
              </a:ext>
            </a:extLst>
          </p:cNvPr>
          <p:cNvSpPr txBox="1"/>
          <p:nvPr/>
        </p:nvSpPr>
        <p:spPr>
          <a:xfrm>
            <a:off x="7159752" y="1331799"/>
            <a:ext cx="1207008" cy="3383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section detect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DE61D1B-807F-784F-6189-B97D0B3FF8DE}"/>
              </a:ext>
            </a:extLst>
          </p:cNvPr>
          <p:cNvSpPr/>
          <p:nvPr/>
        </p:nvSpPr>
        <p:spPr>
          <a:xfrm>
            <a:off x="7141464" y="1734135"/>
            <a:ext cx="1243584" cy="338328"/>
          </a:xfrm>
          <a:prstGeom prst="roundRect">
            <a:avLst/>
          </a:prstGeom>
          <a:solidFill>
            <a:srgbClr val="007E5B"/>
          </a:solidFill>
          <a:ln>
            <a:solidFill>
              <a:srgbClr val="0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56B083-A41E-5EDE-AECA-F4290672A138}"/>
              </a:ext>
            </a:extLst>
          </p:cNvPr>
          <p:cNvSpPr txBox="1"/>
          <p:nvPr/>
        </p:nvSpPr>
        <p:spPr>
          <a:xfrm>
            <a:off x="7267479" y="1774033"/>
            <a:ext cx="991553" cy="25853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compliance · score · </a:t>
            </a:r>
            <a:endParaRPr kumimoji="0" lang="en-IN" sz="780" b="1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compare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3188DE-8B62-32D7-2C36-39290338E44F}"/>
              </a:ext>
            </a:extLst>
          </p:cNvPr>
          <p:cNvSpPr txBox="1"/>
          <p:nvPr/>
        </p:nvSpPr>
        <p:spPr>
          <a:xfrm>
            <a:off x="7141464" y="2209623"/>
            <a:ext cx="1243584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reviewer notification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F2FC16D-E44F-58FC-0C92-708160C9B274}"/>
              </a:ext>
            </a:extLst>
          </p:cNvPr>
          <p:cNvSpPr/>
          <p:nvPr/>
        </p:nvSpPr>
        <p:spPr>
          <a:xfrm>
            <a:off x="8686800" y="856311"/>
            <a:ext cx="1426464" cy="1874519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5B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6583F4-C3F1-F82B-5CD0-7B4ED437A575}"/>
              </a:ext>
            </a:extLst>
          </p:cNvPr>
          <p:cNvSpPr txBox="1"/>
          <p:nvPr/>
        </p:nvSpPr>
        <p:spPr>
          <a:xfrm>
            <a:off x="8778240" y="966039"/>
            <a:ext cx="1243584" cy="23774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6  PERSIST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0777AD63-D412-37A7-4B5D-4FE5FBD48DF6}"/>
              </a:ext>
            </a:extLst>
          </p:cNvPr>
          <p:cNvSpPr/>
          <p:nvPr/>
        </p:nvSpPr>
        <p:spPr>
          <a:xfrm>
            <a:off x="8778240" y="1331799"/>
            <a:ext cx="1243584" cy="338328"/>
          </a:xfrm>
          <a:prstGeom prst="roundRect">
            <a:avLst/>
          </a:prstGeom>
          <a:solidFill>
            <a:srgbClr val="2E4158"/>
          </a:solidFill>
          <a:ln>
            <a:solidFill>
              <a:srgbClr val="2E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7F769A-3E35-5299-037F-AC42E60D9F33}"/>
              </a:ext>
            </a:extLst>
          </p:cNvPr>
          <p:cNvSpPr txBox="1"/>
          <p:nvPr/>
        </p:nvSpPr>
        <p:spPr>
          <a:xfrm>
            <a:off x="8796528" y="1331799"/>
            <a:ext cx="1207008" cy="3383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PostgreSQL 17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CD1080B2-7AA8-9243-E156-D477579345FF}"/>
              </a:ext>
            </a:extLst>
          </p:cNvPr>
          <p:cNvSpPr/>
          <p:nvPr/>
        </p:nvSpPr>
        <p:spPr>
          <a:xfrm>
            <a:off x="8778240" y="1734135"/>
            <a:ext cx="1243584" cy="338328"/>
          </a:xfrm>
          <a:prstGeom prst="roundRect">
            <a:avLst/>
          </a:prstGeom>
          <a:solidFill>
            <a:srgbClr val="2E4158"/>
          </a:solidFill>
          <a:ln>
            <a:solidFill>
              <a:srgbClr val="2E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CAF4A1-CF03-CBC4-316A-E45BDFACB8F7}"/>
              </a:ext>
            </a:extLst>
          </p:cNvPr>
          <p:cNvSpPr txBox="1"/>
          <p:nvPr/>
        </p:nvSpPr>
        <p:spPr>
          <a:xfrm>
            <a:off x="8796528" y="1734135"/>
            <a:ext cx="1207008" cy="3383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Drive outputs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EB6B58-510F-71A9-37F7-0EA6EAC436BD}"/>
              </a:ext>
            </a:extLst>
          </p:cNvPr>
          <p:cNvSpPr txBox="1"/>
          <p:nvPr/>
        </p:nvSpPr>
        <p:spPr>
          <a:xfrm>
            <a:off x="8778240" y="2209623"/>
            <a:ext cx="1243584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matrix + cache + artifacts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E81E2B4F-FFED-BEAE-1CD0-6F76A893B1AE}"/>
              </a:ext>
            </a:extLst>
          </p:cNvPr>
          <p:cNvSpPr/>
          <p:nvPr/>
        </p:nvSpPr>
        <p:spPr>
          <a:xfrm>
            <a:off x="10323576" y="856311"/>
            <a:ext cx="1426464" cy="1874519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5B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2DF6FA-638A-0343-9376-CE6621B45C0A}"/>
              </a:ext>
            </a:extLst>
          </p:cNvPr>
          <p:cNvSpPr txBox="1"/>
          <p:nvPr/>
        </p:nvSpPr>
        <p:spPr>
          <a:xfrm>
            <a:off x="10415016" y="966039"/>
            <a:ext cx="1243584" cy="23774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7  PRESENT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C5F64732-B3D2-F794-2DE7-48D6A1A92F07}"/>
              </a:ext>
            </a:extLst>
          </p:cNvPr>
          <p:cNvSpPr/>
          <p:nvPr/>
        </p:nvSpPr>
        <p:spPr>
          <a:xfrm>
            <a:off x="10415016" y="1331799"/>
            <a:ext cx="1243584" cy="338328"/>
          </a:xfrm>
          <a:prstGeom prst="roundRect">
            <a:avLst/>
          </a:prstGeom>
          <a:solidFill>
            <a:srgbClr val="0970B4"/>
          </a:solidFill>
          <a:ln>
            <a:solidFill>
              <a:srgbClr val="0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F25E5E-9D7F-CCB3-7D9C-ED7100D208A6}"/>
              </a:ext>
            </a:extLst>
          </p:cNvPr>
          <p:cNvSpPr txBox="1"/>
          <p:nvPr/>
        </p:nvSpPr>
        <p:spPr>
          <a:xfrm>
            <a:off x="10433303" y="1331799"/>
            <a:ext cx="1207008" cy="3383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Next.js UI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F0D67FE8-F088-01AE-FCCA-EE387024E28C}"/>
              </a:ext>
            </a:extLst>
          </p:cNvPr>
          <p:cNvSpPr/>
          <p:nvPr/>
        </p:nvSpPr>
        <p:spPr>
          <a:xfrm>
            <a:off x="10415016" y="1734135"/>
            <a:ext cx="1243584" cy="338328"/>
          </a:xfrm>
          <a:prstGeom prst="roundRect">
            <a:avLst/>
          </a:prstGeom>
          <a:solidFill>
            <a:srgbClr val="2E4158"/>
          </a:solidFill>
          <a:ln>
            <a:solidFill>
              <a:srgbClr val="2E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8F0B0F-CB71-1794-E508-C6183D7780CB}"/>
              </a:ext>
            </a:extLst>
          </p:cNvPr>
          <p:cNvSpPr txBox="1"/>
          <p:nvPr/>
        </p:nvSpPr>
        <p:spPr>
          <a:xfrm>
            <a:off x="10433303" y="1734135"/>
            <a:ext cx="1207008" cy="3383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Excel export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C3D622-53A0-FF2B-B60D-1D7B972B622D}"/>
              </a:ext>
            </a:extLst>
          </p:cNvPr>
          <p:cNvSpPr txBox="1"/>
          <p:nvPr/>
        </p:nvSpPr>
        <p:spPr>
          <a:xfrm>
            <a:off x="10415016" y="2209623"/>
            <a:ext cx="1243584" cy="31089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review + download</a:t>
            </a:r>
          </a:p>
        </p:txBody>
      </p:sp>
      <p:cxnSp>
        <p:nvCxnSpPr>
          <p:cNvPr id="59" name="Connector 58">
            <a:extLst>
              <a:ext uri="{FF2B5EF4-FFF2-40B4-BE49-F238E27FC236}">
                <a16:creationId xmlns:a16="http://schemas.microsoft.com/office/drawing/2014/main" id="{B6EF62C6-A55E-2E18-0262-240277DE7570}"/>
              </a:ext>
            </a:extLst>
          </p:cNvPr>
          <p:cNvCxnSpPr/>
          <p:nvPr/>
        </p:nvCxnSpPr>
        <p:spPr>
          <a:xfrm>
            <a:off x="1929384" y="1798143"/>
            <a:ext cx="210312" cy="0"/>
          </a:xfrm>
          <a:prstGeom prst="line">
            <a:avLst/>
          </a:prstGeom>
          <a:ln w="31750">
            <a:solidFill>
              <a:srgbClr val="24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>
            <a:extLst>
              <a:ext uri="{FF2B5EF4-FFF2-40B4-BE49-F238E27FC236}">
                <a16:creationId xmlns:a16="http://schemas.microsoft.com/office/drawing/2014/main" id="{D8856AE1-4716-88B0-646A-4D5AC8E0FD0F}"/>
              </a:ext>
            </a:extLst>
          </p:cNvPr>
          <p:cNvCxnSpPr/>
          <p:nvPr/>
        </p:nvCxnSpPr>
        <p:spPr>
          <a:xfrm>
            <a:off x="3566160" y="1798143"/>
            <a:ext cx="210312" cy="0"/>
          </a:xfrm>
          <a:prstGeom prst="line">
            <a:avLst/>
          </a:prstGeom>
          <a:ln w="31750">
            <a:solidFill>
              <a:srgbClr val="24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>
            <a:extLst>
              <a:ext uri="{FF2B5EF4-FFF2-40B4-BE49-F238E27FC236}">
                <a16:creationId xmlns:a16="http://schemas.microsoft.com/office/drawing/2014/main" id="{A8E5AE4C-92AA-858F-E063-6F6EC5828378}"/>
              </a:ext>
            </a:extLst>
          </p:cNvPr>
          <p:cNvCxnSpPr/>
          <p:nvPr/>
        </p:nvCxnSpPr>
        <p:spPr>
          <a:xfrm>
            <a:off x="5202936" y="1798143"/>
            <a:ext cx="210312" cy="0"/>
          </a:xfrm>
          <a:prstGeom prst="line">
            <a:avLst/>
          </a:prstGeom>
          <a:ln w="31750">
            <a:solidFill>
              <a:srgbClr val="24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4556025C-27F7-7CF7-4CED-8A82CB6E94BD}"/>
              </a:ext>
            </a:extLst>
          </p:cNvPr>
          <p:cNvCxnSpPr/>
          <p:nvPr/>
        </p:nvCxnSpPr>
        <p:spPr>
          <a:xfrm>
            <a:off x="6839712" y="1798143"/>
            <a:ext cx="210312" cy="0"/>
          </a:xfrm>
          <a:prstGeom prst="line">
            <a:avLst/>
          </a:prstGeom>
          <a:ln w="31750">
            <a:solidFill>
              <a:srgbClr val="24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37DE54CF-01EF-C1ED-FFD7-E6A8B41D6AE0}"/>
              </a:ext>
            </a:extLst>
          </p:cNvPr>
          <p:cNvCxnSpPr/>
          <p:nvPr/>
        </p:nvCxnSpPr>
        <p:spPr>
          <a:xfrm>
            <a:off x="8476488" y="1798143"/>
            <a:ext cx="210312" cy="0"/>
          </a:xfrm>
          <a:prstGeom prst="line">
            <a:avLst/>
          </a:prstGeom>
          <a:ln w="31750">
            <a:solidFill>
              <a:srgbClr val="24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5F455E75-054F-B704-1DD9-5C788880F145}"/>
              </a:ext>
            </a:extLst>
          </p:cNvPr>
          <p:cNvCxnSpPr/>
          <p:nvPr/>
        </p:nvCxnSpPr>
        <p:spPr>
          <a:xfrm>
            <a:off x="10113264" y="1798143"/>
            <a:ext cx="210312" cy="0"/>
          </a:xfrm>
          <a:prstGeom prst="line">
            <a:avLst/>
          </a:prstGeom>
          <a:ln w="31750">
            <a:solidFill>
              <a:srgbClr val="24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3C16EB3-E3BA-C10E-A80B-F8F3AB7FB303}"/>
              </a:ext>
            </a:extLst>
          </p:cNvPr>
          <p:cNvSpPr/>
          <p:nvPr/>
        </p:nvSpPr>
        <p:spPr>
          <a:xfrm>
            <a:off x="525780" y="3103040"/>
            <a:ext cx="6524244" cy="1563617"/>
          </a:xfrm>
          <a:prstGeom prst="roundRect">
            <a:avLst/>
          </a:prstGeom>
          <a:solidFill>
            <a:srgbClr val="0A2640"/>
          </a:solidFill>
          <a:ln w="20320">
            <a:solidFill>
              <a:srgbClr val="24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DC6EA4B-5294-A4A1-3521-A7942BCBD838}"/>
              </a:ext>
            </a:extLst>
          </p:cNvPr>
          <p:cNvSpPr txBox="1"/>
          <p:nvPr/>
        </p:nvSpPr>
        <p:spPr>
          <a:xfrm>
            <a:off x="708660" y="3194481"/>
            <a:ext cx="6035040" cy="23774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0" b="1" i="0" u="none" strike="noStrike" kern="1200" cap="none" spc="0" normalizeH="0" baseline="0" noProof="0">
                <a:ln>
                  <a:noFill/>
                </a:ln>
                <a:solidFill>
                  <a:srgbClr val="24CD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INTEL AI FOR ENTERPRISE AGENT TOOLKIT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203FD3C-F214-2C19-C188-977BF8B05E27}"/>
              </a:ext>
            </a:extLst>
          </p:cNvPr>
          <p:cNvSpPr txBox="1"/>
          <p:nvPr/>
        </p:nvSpPr>
        <p:spPr>
          <a:xfrm>
            <a:off x="708660" y="3441368"/>
            <a:ext cx="6080760" cy="20116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60" b="0" i="0" u="none" strike="noStrike" kern="1200" cap="none" spc="0" normalizeH="0" baseline="0" noProof="0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Adopted AI infrastructure behind the application task flow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1CC4AE1E-7160-C438-BA07-2220F549B84D}"/>
              </a:ext>
            </a:extLst>
          </p:cNvPr>
          <p:cNvSpPr/>
          <p:nvPr/>
        </p:nvSpPr>
        <p:spPr>
          <a:xfrm>
            <a:off x="708660" y="3788840"/>
            <a:ext cx="1572768" cy="679703"/>
          </a:xfrm>
          <a:prstGeom prst="roundRect">
            <a:avLst/>
          </a:prstGeom>
          <a:solidFill>
            <a:srgbClr val="6931C2"/>
          </a:solidFill>
          <a:ln>
            <a:solidFill>
              <a:srgbClr val="693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5B228DC-FCDE-2C9B-C1B5-6313C41C4055}"/>
              </a:ext>
            </a:extLst>
          </p:cNvPr>
          <p:cNvSpPr txBox="1"/>
          <p:nvPr/>
        </p:nvSpPr>
        <p:spPr>
          <a:xfrm>
            <a:off x="974421" y="3861448"/>
            <a:ext cx="1041246" cy="172355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LiteLLM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Gateway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634C4F9-6227-7660-84BB-A181BFCF6BF5}"/>
              </a:ext>
            </a:extLst>
          </p:cNvPr>
          <p:cNvSpPr txBox="1"/>
          <p:nvPr/>
        </p:nvSpPr>
        <p:spPr>
          <a:xfrm>
            <a:off x="826944" y="4117164"/>
            <a:ext cx="1336200" cy="26468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OpenAI-compatible API
routing / provider abstraction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0F426B0B-46A7-917C-E524-A8D41A116809}"/>
              </a:ext>
            </a:extLst>
          </p:cNvPr>
          <p:cNvSpPr/>
          <p:nvPr/>
        </p:nvSpPr>
        <p:spPr>
          <a:xfrm>
            <a:off x="2473452" y="3788840"/>
            <a:ext cx="1581912" cy="679703"/>
          </a:xfrm>
          <a:prstGeom prst="roundRect">
            <a:avLst/>
          </a:prstGeom>
          <a:solidFill>
            <a:srgbClr val="0970B4"/>
          </a:solidFill>
          <a:ln>
            <a:solidFill>
              <a:srgbClr val="0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6DBE8E0-94A9-8967-61A3-ADF6AF8F0C34}"/>
              </a:ext>
            </a:extLst>
          </p:cNvPr>
          <p:cNvSpPr txBox="1"/>
          <p:nvPr/>
        </p:nvSpPr>
        <p:spPr>
          <a:xfrm>
            <a:off x="2816720" y="3861448"/>
            <a:ext cx="895373" cy="172355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 Hosting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6D432BA-7138-9573-0C0C-578D2FEC988B}"/>
              </a:ext>
            </a:extLst>
          </p:cNvPr>
          <p:cNvSpPr txBox="1"/>
          <p:nvPr/>
        </p:nvSpPr>
        <p:spPr>
          <a:xfrm>
            <a:off x="2652413" y="4117164"/>
            <a:ext cx="1223988" cy="26468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OpenVINO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Model Server
llama.cpp · Intel NPU / Arc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7F828618-11E2-C14A-206A-0DA8DAE17623}"/>
              </a:ext>
            </a:extLst>
          </p:cNvPr>
          <p:cNvSpPr/>
          <p:nvPr/>
        </p:nvSpPr>
        <p:spPr>
          <a:xfrm>
            <a:off x="4238244" y="3788840"/>
            <a:ext cx="1755648" cy="679703"/>
          </a:xfrm>
          <a:prstGeom prst="roundRect">
            <a:avLst/>
          </a:prstGeom>
          <a:solidFill>
            <a:srgbClr val="4C5665"/>
          </a:solidFill>
          <a:ln>
            <a:solidFill>
              <a:srgbClr val="4C5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E191983-A7AD-C4EA-CFDB-D4B59FA3B53E}"/>
              </a:ext>
            </a:extLst>
          </p:cNvPr>
          <p:cNvSpPr txBox="1"/>
          <p:nvPr/>
        </p:nvSpPr>
        <p:spPr>
          <a:xfrm>
            <a:off x="4700441" y="3861448"/>
            <a:ext cx="831253" cy="172355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Observability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360ABC1-0F64-53D5-2057-8E3DA1E9F091}"/>
              </a:ext>
            </a:extLst>
          </p:cNvPr>
          <p:cNvSpPr txBox="1"/>
          <p:nvPr/>
        </p:nvSpPr>
        <p:spPr>
          <a:xfrm>
            <a:off x="4556972" y="4117164"/>
            <a:ext cx="1118190" cy="26468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LLM traces + latency
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Logfire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/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OpenTelemetry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cxnSp>
        <p:nvCxnSpPr>
          <p:cNvPr id="92" name="Connector 91">
            <a:extLst>
              <a:ext uri="{FF2B5EF4-FFF2-40B4-BE49-F238E27FC236}">
                <a16:creationId xmlns:a16="http://schemas.microsoft.com/office/drawing/2014/main" id="{05834436-4E0C-2B2C-1B13-6C086098344F}"/>
              </a:ext>
            </a:extLst>
          </p:cNvPr>
          <p:cNvCxnSpPr/>
          <p:nvPr/>
        </p:nvCxnSpPr>
        <p:spPr>
          <a:xfrm>
            <a:off x="2281428" y="4017441"/>
            <a:ext cx="192024" cy="0"/>
          </a:xfrm>
          <a:prstGeom prst="line">
            <a:avLst/>
          </a:prstGeom>
          <a:ln w="20320">
            <a:solidFill>
              <a:srgbClr val="24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>
            <a:extLst>
              <a:ext uri="{FF2B5EF4-FFF2-40B4-BE49-F238E27FC236}">
                <a16:creationId xmlns:a16="http://schemas.microsoft.com/office/drawing/2014/main" id="{7DC11BD5-3789-81AB-4405-F0C6F734B68D}"/>
              </a:ext>
            </a:extLst>
          </p:cNvPr>
          <p:cNvCxnSpPr/>
          <p:nvPr/>
        </p:nvCxnSpPr>
        <p:spPr>
          <a:xfrm>
            <a:off x="4055364" y="4017441"/>
            <a:ext cx="182880" cy="0"/>
          </a:xfrm>
          <a:prstGeom prst="line">
            <a:avLst/>
          </a:prstGeom>
          <a:ln w="20320">
            <a:solidFill>
              <a:srgbClr val="24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E1E0F7F6-0662-13CE-55E8-CE885EF49DD6}"/>
              </a:ext>
            </a:extLst>
          </p:cNvPr>
          <p:cNvSpPr/>
          <p:nvPr/>
        </p:nvSpPr>
        <p:spPr>
          <a:xfrm>
            <a:off x="7333488" y="4974256"/>
            <a:ext cx="4507992" cy="941832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596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860612E-3713-AEFB-AEA8-58EDC5CC8563}"/>
              </a:ext>
            </a:extLst>
          </p:cNvPr>
          <p:cNvSpPr txBox="1"/>
          <p:nvPr/>
        </p:nvSpPr>
        <p:spPr>
          <a:xfrm>
            <a:off x="7498079" y="5065696"/>
            <a:ext cx="4160520" cy="20116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OPTIONAL CLOUD BURST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D56BAB5-9DFD-5FDE-367E-E3E01319D737}"/>
              </a:ext>
            </a:extLst>
          </p:cNvPr>
          <p:cNvSpPr txBox="1"/>
          <p:nvPr/>
        </p:nvSpPr>
        <p:spPr>
          <a:xfrm>
            <a:off x="7498079" y="5330872"/>
            <a:ext cx="4160520" cy="21031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9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Claude Sonnet 4.5 · Groq gpt-oss-120b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8EA481F-8DD5-7A2D-15F1-7E90DCB21BE8}"/>
              </a:ext>
            </a:extLst>
          </p:cNvPr>
          <p:cNvSpPr txBox="1"/>
          <p:nvPr/>
        </p:nvSpPr>
        <p:spPr>
          <a:xfrm>
            <a:off x="7498079" y="5596048"/>
            <a:ext cx="4160520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same OpenAI-compatible interface via LiteLLM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A9108E9-8C3B-42C8-18C6-831CFFA4D19D}"/>
              </a:ext>
            </a:extLst>
          </p:cNvPr>
          <p:cNvSpPr txBox="1"/>
          <p:nvPr/>
        </p:nvSpPr>
        <p:spPr>
          <a:xfrm>
            <a:off x="496041" y="6072932"/>
            <a:ext cx="4762881" cy="1261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Reviewer sees results in the UI and can trigger re-evaluation / corrections through the same REST API.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37D1F29-58B3-E0A8-0993-59FC1B15E751}"/>
              </a:ext>
            </a:extLst>
          </p:cNvPr>
          <p:cNvSpPr txBox="1"/>
          <p:nvPr/>
        </p:nvSpPr>
        <p:spPr>
          <a:xfrm>
            <a:off x="493453" y="6291736"/>
            <a:ext cx="2147319" cy="12618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Intel NPU · Intel Arc GPU · </a:t>
            </a:r>
            <a:r>
              <a:rPr kumimoji="0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OpenVINO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· llama.cpp SYCL</a:t>
            </a:r>
          </a:p>
        </p:txBody>
      </p:sp>
      <p:pic>
        <p:nvPicPr>
          <p:cNvPr id="126" name="Picture 125" descr="File:Intel-logo-2022.png - Wikimedia Commons">
            <a:extLst>
              <a:ext uri="{FF2B5EF4-FFF2-40B4-BE49-F238E27FC236}">
                <a16:creationId xmlns:a16="http://schemas.microsoft.com/office/drawing/2014/main" id="{541E5E7C-89A6-F43F-1B27-009A33350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422" y="247585"/>
            <a:ext cx="717677" cy="291137"/>
          </a:xfrm>
          <a:prstGeom prst="rect">
            <a:avLst/>
          </a:prstGeom>
        </p:spPr>
      </p:pic>
      <p:sp>
        <p:nvSpPr>
          <p:cNvPr id="4" name="Rounded Rectangle 105">
            <a:extLst>
              <a:ext uri="{FF2B5EF4-FFF2-40B4-BE49-F238E27FC236}">
                <a16:creationId xmlns:a16="http://schemas.microsoft.com/office/drawing/2014/main" id="{08D21432-8CE5-9AAE-5ACC-448EAB27C932}"/>
              </a:ext>
            </a:extLst>
          </p:cNvPr>
          <p:cNvSpPr/>
          <p:nvPr/>
        </p:nvSpPr>
        <p:spPr>
          <a:xfrm>
            <a:off x="502920" y="4986817"/>
            <a:ext cx="6547104" cy="941832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5B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A1229-358A-A73F-E24C-64FAD334EE6C}"/>
              </a:ext>
            </a:extLst>
          </p:cNvPr>
          <p:cNvSpPr txBox="1"/>
          <p:nvPr/>
        </p:nvSpPr>
        <p:spPr>
          <a:xfrm>
            <a:off x="676655" y="5088816"/>
            <a:ext cx="4406665" cy="180049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Connections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1FACE132-869F-ADCD-4E45-C895BAD76CCD}"/>
              </a:ext>
            </a:extLst>
          </p:cNvPr>
          <p:cNvGrpSpPr/>
          <p:nvPr/>
        </p:nvGrpSpPr>
        <p:grpSpPr>
          <a:xfrm>
            <a:off x="842534" y="5361721"/>
            <a:ext cx="1534906" cy="329184"/>
            <a:chOff x="676656" y="5361721"/>
            <a:chExt cx="1534906" cy="329184"/>
          </a:xfrm>
        </p:grpSpPr>
        <p:sp>
          <p:nvSpPr>
            <p:cNvPr id="9" name="Rounded Rectangle 107">
              <a:extLst>
                <a:ext uri="{FF2B5EF4-FFF2-40B4-BE49-F238E27FC236}">
                  <a16:creationId xmlns:a16="http://schemas.microsoft.com/office/drawing/2014/main" id="{B6F8F79D-C4B6-1680-92D6-52DEE5D9993A}"/>
                </a:ext>
              </a:extLst>
            </p:cNvPr>
            <p:cNvSpPr/>
            <p:nvPr/>
          </p:nvSpPr>
          <p:spPr>
            <a:xfrm>
              <a:off x="676656" y="5361721"/>
              <a:ext cx="1534906" cy="329184"/>
            </a:xfrm>
            <a:prstGeom prst="roundRect">
              <a:avLst/>
            </a:prstGeom>
            <a:solidFill>
              <a:srgbClr val="2E4158"/>
            </a:solidFill>
            <a:ln>
              <a:solidFill>
                <a:srgbClr val="2E41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EBC29A7-9132-A6D4-2685-0AFC7C04FFFC}"/>
                </a:ext>
              </a:extLst>
            </p:cNvPr>
            <p:cNvSpPr txBox="1"/>
            <p:nvPr/>
          </p:nvSpPr>
          <p:spPr>
            <a:xfrm>
              <a:off x="694943" y="5457063"/>
              <a:ext cx="1495295" cy="138499"/>
            </a:xfrm>
            <a:prstGeom prst="rect">
              <a:avLst/>
            </a:prstGeom>
            <a:noFill/>
          </p:spPr>
          <p:txBody>
            <a:bodyPr wrap="square" lIns="27432" tIns="9144" rIns="27432" bIns="9144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80" b="1" i="0" u="none" strike="noStrike" kern="1200" cap="none" spc="0" normalizeH="0" baseline="0" noProof="0" dirty="0">
                  <a:ln>
                    <a:noFill/>
                  </a:ln>
                  <a:solidFill>
                    <a:srgbClr val="F5F8FC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Google Drive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065A967-65A1-D2FC-6DEE-5CCAA5294AC3}"/>
              </a:ext>
            </a:extLst>
          </p:cNvPr>
          <p:cNvGrpSpPr/>
          <p:nvPr/>
        </p:nvGrpSpPr>
        <p:grpSpPr>
          <a:xfrm>
            <a:off x="2611898" y="5361721"/>
            <a:ext cx="1534906" cy="329184"/>
            <a:chOff x="2351294" y="5361721"/>
            <a:chExt cx="1534906" cy="329184"/>
          </a:xfrm>
        </p:grpSpPr>
        <p:sp>
          <p:nvSpPr>
            <p:cNvPr id="68" name="Rounded Rectangle 109">
              <a:extLst>
                <a:ext uri="{FF2B5EF4-FFF2-40B4-BE49-F238E27FC236}">
                  <a16:creationId xmlns:a16="http://schemas.microsoft.com/office/drawing/2014/main" id="{2054B63C-0E42-7670-E1D2-1B66BFD28811}"/>
                </a:ext>
              </a:extLst>
            </p:cNvPr>
            <p:cNvSpPr/>
            <p:nvPr/>
          </p:nvSpPr>
          <p:spPr>
            <a:xfrm>
              <a:off x="2351294" y="5361721"/>
              <a:ext cx="1534906" cy="329184"/>
            </a:xfrm>
            <a:prstGeom prst="roundRect">
              <a:avLst/>
            </a:prstGeom>
            <a:solidFill>
              <a:srgbClr val="2E4158"/>
            </a:solidFill>
            <a:ln>
              <a:solidFill>
                <a:srgbClr val="2E41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CD66A54-FEB8-072E-A901-A020529D23FE}"/>
                </a:ext>
              </a:extLst>
            </p:cNvPr>
            <p:cNvSpPr txBox="1"/>
            <p:nvPr/>
          </p:nvSpPr>
          <p:spPr>
            <a:xfrm>
              <a:off x="2369581" y="5457063"/>
              <a:ext cx="1495295" cy="138499"/>
            </a:xfrm>
            <a:prstGeom prst="rect">
              <a:avLst/>
            </a:prstGeom>
            <a:noFill/>
          </p:spPr>
          <p:txBody>
            <a:bodyPr wrap="square" lIns="27432" tIns="9144" rIns="27432" bIns="9144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780" b="1" i="0" u="none" strike="noStrike" kern="1200" cap="none" spc="0" normalizeH="0" baseline="0" noProof="0" dirty="0">
                  <a:ln>
                    <a:noFill/>
                  </a:ln>
                  <a:solidFill>
                    <a:srgbClr val="F5F8FC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Gmail</a:t>
              </a:r>
              <a:endParaRPr kumimoji="0" sz="78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218861D-2ACF-6684-4E30-04578C854795}"/>
              </a:ext>
            </a:extLst>
          </p:cNvPr>
          <p:cNvGrpSpPr/>
          <p:nvPr/>
        </p:nvGrpSpPr>
        <p:grpSpPr>
          <a:xfrm>
            <a:off x="4374338" y="5361721"/>
            <a:ext cx="1089288" cy="329184"/>
            <a:chOff x="4009643" y="5361721"/>
            <a:chExt cx="1089288" cy="329184"/>
          </a:xfrm>
        </p:grpSpPr>
        <p:sp>
          <p:nvSpPr>
            <p:cNvPr id="72" name="Rounded Rectangle 111">
              <a:extLst>
                <a:ext uri="{FF2B5EF4-FFF2-40B4-BE49-F238E27FC236}">
                  <a16:creationId xmlns:a16="http://schemas.microsoft.com/office/drawing/2014/main" id="{F39AD3E3-8606-E6F7-750A-421963F291EF}"/>
                </a:ext>
              </a:extLst>
            </p:cNvPr>
            <p:cNvSpPr/>
            <p:nvPr/>
          </p:nvSpPr>
          <p:spPr>
            <a:xfrm>
              <a:off x="4009643" y="5361721"/>
              <a:ext cx="1089288" cy="329184"/>
            </a:xfrm>
            <a:prstGeom prst="roundRect">
              <a:avLst/>
            </a:prstGeom>
            <a:solidFill>
              <a:srgbClr val="2E4158"/>
            </a:solidFill>
            <a:ln>
              <a:solidFill>
                <a:srgbClr val="2E41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A39BA7A-BA1F-EF9B-9F5E-7363547F7CCB}"/>
                </a:ext>
              </a:extLst>
            </p:cNvPr>
            <p:cNvSpPr txBox="1"/>
            <p:nvPr/>
          </p:nvSpPr>
          <p:spPr>
            <a:xfrm>
              <a:off x="4027930" y="5457063"/>
              <a:ext cx="1049678" cy="138499"/>
            </a:xfrm>
            <a:prstGeom prst="rect">
              <a:avLst/>
            </a:prstGeom>
            <a:noFill/>
          </p:spPr>
          <p:txBody>
            <a:bodyPr wrap="square" lIns="27432" tIns="9144" rIns="27432" bIns="9144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80" b="1" i="0" u="none" strike="noStrike" kern="1200" cap="none" spc="0" normalizeH="0" baseline="0" noProof="0">
                  <a:ln>
                    <a:noFill/>
                  </a:ln>
                  <a:solidFill>
                    <a:srgbClr val="F5F8FC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Excel</a:t>
              </a:r>
            </a:p>
          </p:txBody>
        </p:sp>
      </p:grpSp>
      <p:sp>
        <p:nvSpPr>
          <p:cNvPr id="76" name="Rounded Rectangle 93">
            <a:extLst>
              <a:ext uri="{FF2B5EF4-FFF2-40B4-BE49-F238E27FC236}">
                <a16:creationId xmlns:a16="http://schemas.microsoft.com/office/drawing/2014/main" id="{05F527E5-55E7-820F-9907-2C78E9BDACE3}"/>
              </a:ext>
            </a:extLst>
          </p:cNvPr>
          <p:cNvSpPr/>
          <p:nvPr/>
        </p:nvSpPr>
        <p:spPr>
          <a:xfrm>
            <a:off x="7315200" y="3076956"/>
            <a:ext cx="4462272" cy="1563617"/>
          </a:xfrm>
          <a:prstGeom prst="roundRect">
            <a:avLst/>
          </a:prstGeom>
          <a:solidFill>
            <a:srgbClr val="101E33"/>
          </a:solidFill>
          <a:ln w="12700">
            <a:solidFill>
              <a:srgbClr val="5B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D470A28-7A03-E18F-5C61-D5885B428EE6}"/>
              </a:ext>
            </a:extLst>
          </p:cNvPr>
          <p:cNvSpPr txBox="1"/>
          <p:nvPr/>
        </p:nvSpPr>
        <p:spPr>
          <a:xfrm>
            <a:off x="7488936" y="3168397"/>
            <a:ext cx="4069080" cy="23774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ON-DEVICE MODEL EXECUTION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2EF7551-CEAA-4411-815F-D7289C6ED25F}"/>
              </a:ext>
            </a:extLst>
          </p:cNvPr>
          <p:cNvSpPr txBox="1"/>
          <p:nvPr/>
        </p:nvSpPr>
        <p:spPr>
          <a:xfrm>
            <a:off x="7488936" y="3415284"/>
            <a:ext cx="4069080" cy="20116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60" b="0" i="0" u="none" strike="noStrike" kern="1200" cap="none" spc="0" normalizeH="0" baseline="0" noProof="0">
                <a:ln>
                  <a:noFill/>
                </a:ln>
                <a:solidFill>
                  <a:srgbClr val="A9BBC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 backends used by the gateway</a:t>
            </a:r>
          </a:p>
        </p:txBody>
      </p:sp>
      <p:sp>
        <p:nvSpPr>
          <p:cNvPr id="131" name="Rounded Rectangle 96">
            <a:extLst>
              <a:ext uri="{FF2B5EF4-FFF2-40B4-BE49-F238E27FC236}">
                <a16:creationId xmlns:a16="http://schemas.microsoft.com/office/drawing/2014/main" id="{135EECD3-264A-A741-9AE8-0948880CCC76}"/>
              </a:ext>
            </a:extLst>
          </p:cNvPr>
          <p:cNvSpPr/>
          <p:nvPr/>
        </p:nvSpPr>
        <p:spPr>
          <a:xfrm>
            <a:off x="7488936" y="3762756"/>
            <a:ext cx="2029968" cy="679703"/>
          </a:xfrm>
          <a:prstGeom prst="roundRect">
            <a:avLst/>
          </a:prstGeom>
          <a:solidFill>
            <a:srgbClr val="0970B4"/>
          </a:solidFill>
          <a:ln>
            <a:solidFill>
              <a:srgbClr val="0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371A8A0-2691-ABD1-E33F-C919136B8C92}"/>
              </a:ext>
            </a:extLst>
          </p:cNvPr>
          <p:cNvSpPr txBox="1"/>
          <p:nvPr/>
        </p:nvSpPr>
        <p:spPr>
          <a:xfrm>
            <a:off x="7858262" y="3839936"/>
            <a:ext cx="1291316" cy="172355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Intel NPU · Qwen3-4B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4D2F02C-6A53-3A8A-E76E-5BB1FB41FD19}"/>
              </a:ext>
            </a:extLst>
          </p:cNvPr>
          <p:cNvSpPr txBox="1"/>
          <p:nvPr/>
        </p:nvSpPr>
        <p:spPr>
          <a:xfrm>
            <a:off x="7855056" y="4161780"/>
            <a:ext cx="1297728" cy="141577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OpenVINO</a:t>
            </a: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· INT4 · 262K </a:t>
            </a: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ctx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7" name="Rounded Rectangle 99">
            <a:extLst>
              <a:ext uri="{FF2B5EF4-FFF2-40B4-BE49-F238E27FC236}">
                <a16:creationId xmlns:a16="http://schemas.microsoft.com/office/drawing/2014/main" id="{7F7BB5DC-9FDA-56CD-ED9D-B77525FC3E43}"/>
              </a:ext>
            </a:extLst>
          </p:cNvPr>
          <p:cNvSpPr/>
          <p:nvPr/>
        </p:nvSpPr>
        <p:spPr>
          <a:xfrm>
            <a:off x="9665208" y="3762756"/>
            <a:ext cx="1874519" cy="679703"/>
          </a:xfrm>
          <a:prstGeom prst="roundRect">
            <a:avLst/>
          </a:prstGeom>
          <a:solidFill>
            <a:srgbClr val="0970B4"/>
          </a:solidFill>
          <a:ln>
            <a:solidFill>
              <a:srgbClr val="0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FF43051-9B1F-D054-57FD-58C38A0AA0AC}"/>
              </a:ext>
            </a:extLst>
          </p:cNvPr>
          <p:cNvSpPr txBox="1"/>
          <p:nvPr/>
        </p:nvSpPr>
        <p:spPr>
          <a:xfrm>
            <a:off x="10010511" y="3839936"/>
            <a:ext cx="1183914" cy="172355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Intel Arc GPU · OCR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D070E70-AB95-1E35-4F8B-D0B8E073FF8F}"/>
              </a:ext>
            </a:extLst>
          </p:cNvPr>
          <p:cNvSpPr txBox="1"/>
          <p:nvPr/>
        </p:nvSpPr>
        <p:spPr>
          <a:xfrm>
            <a:off x="9856623" y="4161779"/>
            <a:ext cx="1491690" cy="141577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llama.cpp · SYCL · </a:t>
            </a: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LightOnOCR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7F093E7-1EEE-1F26-B0EA-18BE2D2789D6}"/>
              </a:ext>
            </a:extLst>
          </p:cNvPr>
          <p:cNvGrpSpPr/>
          <p:nvPr/>
        </p:nvGrpSpPr>
        <p:grpSpPr>
          <a:xfrm>
            <a:off x="5700132" y="5376592"/>
            <a:ext cx="1089288" cy="329184"/>
            <a:chOff x="4009643" y="5361721"/>
            <a:chExt cx="1089288" cy="329184"/>
          </a:xfrm>
        </p:grpSpPr>
        <p:sp>
          <p:nvSpPr>
            <p:cNvPr id="146" name="Rounded Rectangle 111">
              <a:extLst>
                <a:ext uri="{FF2B5EF4-FFF2-40B4-BE49-F238E27FC236}">
                  <a16:creationId xmlns:a16="http://schemas.microsoft.com/office/drawing/2014/main" id="{D0EA1BE3-5972-780E-F7FC-2BD4AB9C5CE1}"/>
                </a:ext>
              </a:extLst>
            </p:cNvPr>
            <p:cNvSpPr/>
            <p:nvPr/>
          </p:nvSpPr>
          <p:spPr>
            <a:xfrm>
              <a:off x="4009643" y="5361721"/>
              <a:ext cx="1089288" cy="329184"/>
            </a:xfrm>
            <a:prstGeom prst="roundRect">
              <a:avLst/>
            </a:prstGeom>
            <a:solidFill>
              <a:srgbClr val="2E4158"/>
            </a:solidFill>
            <a:ln>
              <a:solidFill>
                <a:srgbClr val="2E41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5917F12-8D75-9693-1574-2E8FCE5F2569}"/>
                </a:ext>
              </a:extLst>
            </p:cNvPr>
            <p:cNvSpPr txBox="1"/>
            <p:nvPr/>
          </p:nvSpPr>
          <p:spPr>
            <a:xfrm>
              <a:off x="4027930" y="5457063"/>
              <a:ext cx="1049678" cy="138499"/>
            </a:xfrm>
            <a:prstGeom prst="rect">
              <a:avLst/>
            </a:prstGeom>
            <a:noFill/>
          </p:spPr>
          <p:txBody>
            <a:bodyPr wrap="square" lIns="27432" tIns="9144" rIns="27432" bIns="9144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780" b="1" i="0" u="none" strike="noStrike" kern="1200" cap="none" spc="0" normalizeH="0" baseline="0" noProof="0" dirty="0">
                  <a:ln>
                    <a:noFill/>
                  </a:ln>
                  <a:solidFill>
                    <a:srgbClr val="F5F8FC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Parser</a:t>
              </a:r>
              <a:endParaRPr kumimoji="0" sz="78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088968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213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1_Office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 pro Precision 7</cp:lastModifiedBy>
  <cp:revision>3</cp:revision>
  <dcterms:created xsi:type="dcterms:W3CDTF">2026-09-01T18:03:49Z</dcterms:created>
  <dcterms:modified xsi:type="dcterms:W3CDTF">2026-09-04T17:27:12Z</dcterms:modified>
</cp:coreProperties>
</file>